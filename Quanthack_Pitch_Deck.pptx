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93B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E293B"/>
                </a:solidFill>
                <a:latin typeface="Arial"/>
              </a:rPr>
              <a:t>Equity — gross 2x, full month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Equity</c:v>
                </c:pt>
              </c:strCache>
            </c:strRef>
          </c:tx>
          <c:spPr>
            <a:solidFill>
              <a:srgbClr val="3FB950"/>
            </a:solidFill>
            <a:ln w="31750" cap="flat">
              <a:solidFill>
                <a:srgbClr val="3FB95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3FB950"/>
              </a:solidFill>
              <a:ln w="9525" cap="flat">
                <a:solidFill>
                  <a:srgbClr val="3FB95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Sheet1!$A$2:$A$37</c:f>
              <c:multiLvlStrCache>
                <c:ptCount val="36"/>
                <c:lvl>
                  <c:pt idx="0">
                    <c:v>05-11 00h</c:v>
                  </c:pt>
                  <c:pt idx="1">
                    <c:v>05-11 15h</c:v>
                  </c:pt>
                  <c:pt idx="2">
                    <c:v>05-12 06h</c:v>
                  </c:pt>
                  <c:pt idx="3">
                    <c:v>05-12 22h</c:v>
                  </c:pt>
                  <c:pt idx="4">
                    <c:v>05-13 13h</c:v>
                  </c:pt>
                  <c:pt idx="5">
                    <c:v>05-14 05h</c:v>
                  </c:pt>
                  <c:pt idx="6">
                    <c:v>05-14 20h</c:v>
                  </c:pt>
                  <c:pt idx="7">
                    <c:v>05-15 11h</c:v>
                  </c:pt>
                  <c:pt idx="8">
                    <c:v>05-18 03h</c:v>
                  </c:pt>
                  <c:pt idx="9">
                    <c:v>05-18 18h</c:v>
                  </c:pt>
                  <c:pt idx="10">
                    <c:v>05-19 10h</c:v>
                  </c:pt>
                  <c:pt idx="11">
                    <c:v>05-20 01h</c:v>
                  </c:pt>
                  <c:pt idx="12">
                    <c:v>05-20 17h</c:v>
                  </c:pt>
                  <c:pt idx="13">
                    <c:v>05-21 08h</c:v>
                  </c:pt>
                  <c:pt idx="14">
                    <c:v>05-21 23h</c:v>
                  </c:pt>
                  <c:pt idx="15">
                    <c:v>05-22 15h</c:v>
                  </c:pt>
                  <c:pt idx="16">
                    <c:v>05-25 06h</c:v>
                  </c:pt>
                  <c:pt idx="17">
                    <c:v>05-25 22h</c:v>
                  </c:pt>
                  <c:pt idx="18">
                    <c:v>05-26 13h</c:v>
                  </c:pt>
                  <c:pt idx="19">
                    <c:v>05-27 04h</c:v>
                  </c:pt>
                  <c:pt idx="20">
                    <c:v>05-27 20h</c:v>
                  </c:pt>
                  <c:pt idx="21">
                    <c:v>05-28 11h</c:v>
                  </c:pt>
                  <c:pt idx="22">
                    <c:v>05-29 03h</c:v>
                  </c:pt>
                  <c:pt idx="23">
                    <c:v>05-29 18h</c:v>
                  </c:pt>
                  <c:pt idx="24">
                    <c:v>06-01 10h</c:v>
                  </c:pt>
                  <c:pt idx="25">
                    <c:v>06-02 01h</c:v>
                  </c:pt>
                  <c:pt idx="26">
                    <c:v>06-02 16h</c:v>
                  </c:pt>
                  <c:pt idx="27">
                    <c:v>06-03 08h</c:v>
                  </c:pt>
                  <c:pt idx="28">
                    <c:v>06-03 23h</c:v>
                  </c:pt>
                  <c:pt idx="29">
                    <c:v>06-04 15h</c:v>
                  </c:pt>
                  <c:pt idx="30">
                    <c:v>06-05 06h</c:v>
                  </c:pt>
                  <c:pt idx="31">
                    <c:v>06-07 21h</c:v>
                  </c:pt>
                  <c:pt idx="32">
                    <c:v>06-08 13h</c:v>
                  </c:pt>
                  <c:pt idx="33">
                    <c:v>06-09 04h</c:v>
                  </c:pt>
                  <c:pt idx="34">
                    <c:v>06-09 20h</c:v>
                  </c:pt>
                  <c:pt idx="35">
                    <c:v>06-10 11h</c:v>
                  </c:pt>
                </c:lvl>
              </c:multiLvlStrCache>
            </c:multiLvlStrRef>
          </c:cat>
          <c:val>
            <c:numRef>
              <c:f>Sheet1!$B$2:$B$37</c:f>
              <c:numCache>
                <c:formatCode>General</c:formatCode>
                <c:ptCount val="36"/>
                <c:pt idx="0">
                  <c:v>1000000</c:v>
                </c:pt>
                <c:pt idx="1">
                  <c:v>996835</c:v>
                </c:pt>
                <c:pt idx="2">
                  <c:v>995206</c:v>
                </c:pt>
                <c:pt idx="3">
                  <c:v>999759</c:v>
                </c:pt>
                <c:pt idx="4">
                  <c:v>994476</c:v>
                </c:pt>
                <c:pt idx="5">
                  <c:v>999380</c:v>
                </c:pt>
                <c:pt idx="6">
                  <c:v>1015722</c:v>
                </c:pt>
                <c:pt idx="7">
                  <c:v>1048360</c:v>
                </c:pt>
                <c:pt idx="8">
                  <c:v>1062603</c:v>
                </c:pt>
                <c:pt idx="9">
                  <c:v>1062127</c:v>
                </c:pt>
                <c:pt idx="10">
                  <c:v>1056027</c:v>
                </c:pt>
                <c:pt idx="11">
                  <c:v>1068281</c:v>
                </c:pt>
                <c:pt idx="12">
                  <c:v>1069232</c:v>
                </c:pt>
                <c:pt idx="13">
                  <c:v>1061536</c:v>
                </c:pt>
                <c:pt idx="14">
                  <c:v>1062550</c:v>
                </c:pt>
                <c:pt idx="15">
                  <c:v>1063264</c:v>
                </c:pt>
                <c:pt idx="16">
                  <c:v>1043016</c:v>
                </c:pt>
                <c:pt idx="17">
                  <c:v>1038416</c:v>
                </c:pt>
                <c:pt idx="18">
                  <c:v>1040159</c:v>
                </c:pt>
                <c:pt idx="19">
                  <c:v>1043166</c:v>
                </c:pt>
                <c:pt idx="20">
                  <c:v>1052030</c:v>
                </c:pt>
                <c:pt idx="21">
                  <c:v>1049863</c:v>
                </c:pt>
                <c:pt idx="22">
                  <c:v>1065216</c:v>
                </c:pt>
                <c:pt idx="23">
                  <c:v>1066735</c:v>
                </c:pt>
                <c:pt idx="24">
                  <c:v>1067013</c:v>
                </c:pt>
                <c:pt idx="25">
                  <c:v>1065485</c:v>
                </c:pt>
                <c:pt idx="26">
                  <c:v>1064401</c:v>
                </c:pt>
                <c:pt idx="27">
                  <c:v>1076159</c:v>
                </c:pt>
                <c:pt idx="28">
                  <c:v>1086049</c:v>
                </c:pt>
                <c:pt idx="29">
                  <c:v>1083348</c:v>
                </c:pt>
                <c:pt idx="30">
                  <c:v>1092741</c:v>
                </c:pt>
                <c:pt idx="31">
                  <c:v>1093390</c:v>
                </c:pt>
                <c:pt idx="32">
                  <c:v>1087765</c:v>
                </c:pt>
                <c:pt idx="33">
                  <c:v>1082147</c:v>
                </c:pt>
                <c:pt idx="34">
                  <c:v>1065145</c:v>
                </c:pt>
                <c:pt idx="35">
                  <c:v>1074711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6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93B"/>
                </a:solidFill>
                <a:latin typeface="Arial"/>
              </a:defRPr>
            </a:pPr>
            <a:r>
              <a:rPr sz="1200" b="0" i="0" u="none" strike="noStrike">
                <a:solidFill>
                  <a:srgbClr val="1E293B"/>
                </a:solidFill>
                <a:latin typeface="Arial"/>
              </a:rPr>
              <a:t>Gross frontier — Sharpe-flat, returns plateau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Return %</c:v>
                </c:pt>
              </c:strCache>
            </c:strRef>
          </c:tx>
          <c:spPr>
            <a:solidFill>
              <a:srgbClr val="58A6FF"/>
            </a:solidFill>
            <a:ln w="31750" cap="flat">
              <a:solidFill>
                <a:srgbClr val="58A6F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8A6FF"/>
              </a:solidFill>
              <a:ln w="9525" cap="flat">
                <a:solidFill>
                  <a:srgbClr val="58A6F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1.5x</c:v>
                  </c:pt>
                  <c:pt idx="1">
                    <c:v>2x</c:v>
                  </c:pt>
                  <c:pt idx="2">
                    <c:v>3x</c:v>
                  </c:pt>
                  <c:pt idx="3">
                    <c:v>4x</c:v>
                  </c:pt>
                  <c:pt idx="4">
                    <c:v>5x</c:v>
                  </c:pt>
                  <c:pt idx="5">
                    <c:v>6x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6.4</c:v>
                </c:pt>
                <c:pt idx="1">
                  <c:v>8.6</c:v>
                </c:pt>
                <c:pt idx="2">
                  <c:v>11.9</c:v>
                </c:pt>
                <c:pt idx="3">
                  <c:v>12.5</c:v>
                </c:pt>
                <c:pt idx="4">
                  <c:v>13</c:v>
                </c:pt>
                <c:pt idx="5">
                  <c:v>13.9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Max DD %</c:v>
                </c:pt>
              </c:strCache>
            </c:strRef>
          </c:tx>
          <c:spPr>
            <a:solidFill>
              <a:srgbClr val="F85149"/>
            </a:solidFill>
            <a:ln w="31750" cap="flat">
              <a:solidFill>
                <a:srgbClr val="F8514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85149"/>
              </a:solidFill>
              <a:ln w="9525" cap="flat">
                <a:solidFill>
                  <a:srgbClr val="F8514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1.5x</c:v>
                  </c:pt>
                  <c:pt idx="1">
                    <c:v>2x</c:v>
                  </c:pt>
                  <c:pt idx="2">
                    <c:v>3x</c:v>
                  </c:pt>
                  <c:pt idx="3">
                    <c:v>4x</c:v>
                  </c:pt>
                  <c:pt idx="4">
                    <c:v>5x</c:v>
                  </c:pt>
                  <c:pt idx="5">
                    <c:v>6x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-3.5</c:v>
                </c:pt>
                <c:pt idx="1">
                  <c:v>-4.6</c:v>
                </c:pt>
                <c:pt idx="2">
                  <c:v>-6.9</c:v>
                </c:pt>
                <c:pt idx="3">
                  <c:v>-7.9</c:v>
                </c:pt>
                <c:pt idx="4">
                  <c:v>-8.2</c:v>
                </c:pt>
                <c:pt idx="5">
                  <c:v>-8.3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>
              <a:solidFill>
                <a:srgbClr val="334155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93B"/>
                </a:solidFill>
                <a:latin typeface="Arial"/>
              </a:defRPr>
            </a:pPr>
            <a:r>
              <a:rPr sz="1200" b="0" i="0" u="none" strike="noStrike">
                <a:solidFill>
                  <a:srgbClr val="1E293B"/>
                </a:solidFill>
                <a:latin typeface="Arial"/>
              </a:rPr>
              <a:t>Weekly returns — 2 of 4 positive (honest)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Weekly %</c:v>
                </c:pt>
              </c:strCache>
            </c:strRef>
          </c:tx>
          <c:spPr>
            <a:solidFill>
              <a:srgbClr val="3FB95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E29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May 24</c:v>
                  </c:pt>
                  <c:pt idx="1">
                    <c:v>May 31</c:v>
                  </c:pt>
                  <c:pt idx="2">
                    <c:v>Jun 07</c:v>
                  </c:pt>
                  <c:pt idx="3">
                    <c:v>Jun 14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-1.04</c:v>
                </c:pt>
                <c:pt idx="1">
                  <c:v>1.58</c:v>
                </c:pt>
                <c:pt idx="2">
                  <c:v>2.71</c:v>
                </c:pt>
                <c:pt idx="3">
                  <c:v>-0.42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E293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2011680"/>
            <a:ext cx="5486400" cy="5486400"/>
          </a:xfrm>
          <a:prstGeom prst="ellipse">
            <a:avLst/>
          </a:prstGeom>
          <a:solidFill>
            <a:srgbClr val="13314F"/>
          </a:solidFill>
          <a:ln/>
        </p:spPr>
      </p:sp>
      <p:sp>
        <p:nvSpPr>
          <p:cNvPr id="3" name="Shape 1"/>
          <p:cNvSpPr/>
          <p:nvPr/>
        </p:nvSpPr>
        <p:spPr>
          <a:xfrm>
            <a:off x="10241280" y="3474720"/>
            <a:ext cx="3657600" cy="3657600"/>
          </a:xfrm>
          <a:prstGeom prst="ellipse">
            <a:avLst/>
          </a:prstGeom>
          <a:solidFill>
            <a:srgbClr val="122A45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82880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spc="100" kern="0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MODEL TO MARKET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658368" y="28346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Quanthack · the UK's first AI-native live trading competition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58368" y="3337560"/>
            <a:ext cx="9601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2A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disciplined, fully-built, honestly-validated quant system — engineered to place across the main, Sharpe, and Technology prizes.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58368" y="4297680"/>
            <a:ext cx="2194560" cy="457200"/>
          </a:xfrm>
          <a:prstGeom prst="roundRect">
            <a:avLst>
              <a:gd name="adj" fmla="val 20000"/>
            </a:avLst>
          </a:prstGeom>
          <a:solidFill>
            <a:srgbClr val="18283F"/>
          </a:solidFill>
          <a:ln w="12700">
            <a:solidFill>
              <a:srgbClr val="2A3F5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42976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$1,000,000 paper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990088" y="4297680"/>
            <a:ext cx="2194560" cy="457200"/>
          </a:xfrm>
          <a:prstGeom prst="roundRect">
            <a:avLst>
              <a:gd name="adj" fmla="val 20000"/>
            </a:avLst>
          </a:prstGeom>
          <a:solidFill>
            <a:srgbClr val="18283F"/>
          </a:solidFill>
          <a:ln w="12700">
            <a:solidFill>
              <a:srgbClr val="2A3F5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90088" y="42976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30x max leverage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321808" y="4297680"/>
            <a:ext cx="2194560" cy="457200"/>
          </a:xfrm>
          <a:prstGeom prst="roundRect">
            <a:avLst>
              <a:gd name="adj" fmla="val 20000"/>
            </a:avLst>
          </a:prstGeom>
          <a:solidFill>
            <a:srgbClr val="18283F"/>
          </a:solidFill>
          <a:ln w="12700">
            <a:solidFill>
              <a:srgbClr val="2A3F5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321808" y="42976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FX + metals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653528" y="4297680"/>
            <a:ext cx="2194560" cy="457200"/>
          </a:xfrm>
          <a:prstGeom prst="roundRect">
            <a:avLst>
              <a:gd name="adj" fmla="val 20000"/>
            </a:avLst>
          </a:prstGeom>
          <a:solidFill>
            <a:srgbClr val="18283F"/>
          </a:solidFill>
          <a:ln w="12700">
            <a:solidFill>
              <a:srgbClr val="2A3F5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653528" y="42976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market-neutral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58368" y="6035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2A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Entrant: alex@ladimex.com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we win — three shots, not one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54480"/>
            <a:ext cx="3520440" cy="4023360"/>
          </a:xfrm>
          <a:prstGeom prst="rect">
            <a:avLst/>
          </a:prstGeom>
          <a:solidFill>
            <a:srgbClr val="18283F"/>
          </a:solidFill>
          <a:ln w="12700">
            <a:solidFill>
              <a:srgbClr val="263B5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40080" y="1554480"/>
            <a:ext cx="3520440" cy="109728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82880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3FB9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868680" y="27432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Survive the knockout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868680" y="3520440"/>
            <a:ext cx="31089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92A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Equity carries between rounds. We run market-neutral at low gross so high-variance entrants eliminate themselves while we advance. No forced-liquidation risk anywhere on our frontier.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416552" y="1554480"/>
            <a:ext cx="3520440" cy="4023360"/>
          </a:xfrm>
          <a:prstGeom prst="rect">
            <a:avLst/>
          </a:prstGeom>
          <a:solidFill>
            <a:srgbClr val="18283F"/>
          </a:solidFill>
          <a:ln w="12700">
            <a:solidFill>
              <a:srgbClr val="263B5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416552" y="1554480"/>
            <a:ext cx="3520440" cy="109728"/>
          </a:xfrm>
          <a:prstGeom prst="rect">
            <a:avLst/>
          </a:prstGeom>
          <a:solidFill>
            <a:srgbClr val="2EC4B6"/>
          </a:solidFill>
          <a:ln/>
        </p:spPr>
      </p:sp>
      <p:sp>
        <p:nvSpPr>
          <p:cNvPr id="10" name="Text 8"/>
          <p:cNvSpPr/>
          <p:nvPr/>
        </p:nvSpPr>
        <p:spPr>
          <a:xfrm>
            <a:off x="4645152" y="182880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2EC4B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4600" dirty="0"/>
          </a:p>
        </p:txBody>
      </p:sp>
      <p:sp>
        <p:nvSpPr>
          <p:cNvPr id="11" name="Text 9"/>
          <p:cNvSpPr/>
          <p:nvPr/>
        </p:nvSpPr>
        <p:spPr>
          <a:xfrm>
            <a:off x="4645152" y="27432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Win the Sharpe prize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4645152" y="3520440"/>
            <a:ext cx="31089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92A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smooth, diversified, shrinkage-covariance book targets the $10k Best-Sharpe award — and the 10% Sharpe slice of the main score.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193024" y="1554480"/>
            <a:ext cx="3520440" cy="4023360"/>
          </a:xfrm>
          <a:prstGeom prst="rect">
            <a:avLst/>
          </a:prstGeom>
          <a:solidFill>
            <a:srgbClr val="18283F"/>
          </a:solidFill>
          <a:ln w="12700">
            <a:solidFill>
              <a:srgbClr val="263B5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193024" y="1554480"/>
            <a:ext cx="3520440" cy="109728"/>
          </a:xfrm>
          <a:prstGeom prst="rect">
            <a:avLst/>
          </a:prstGeom>
          <a:solidFill>
            <a:srgbClr val="D4A72C"/>
          </a:solidFill>
          <a:ln/>
        </p:spPr>
      </p:sp>
      <p:sp>
        <p:nvSpPr>
          <p:cNvPr id="15" name="Text 13"/>
          <p:cNvSpPr/>
          <p:nvPr/>
        </p:nvSpPr>
        <p:spPr>
          <a:xfrm>
            <a:off x="8421624" y="182880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D4A7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4600" dirty="0"/>
          </a:p>
        </p:txBody>
      </p:sp>
      <p:sp>
        <p:nvSpPr>
          <p:cNvPr id="16" name="Text 14"/>
          <p:cNvSpPr/>
          <p:nvPr/>
        </p:nvSpPr>
        <p:spPr>
          <a:xfrm>
            <a:off x="8421624" y="27432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Win the Technology prize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8421624" y="3520440"/>
            <a:ext cx="31089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92A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complete, working sponsor stack: NVIDIA Nemotron, Anthropic Claude, Pydantic Gateway + Logfire, MetaTrader 5 + Northflank.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0080" y="58978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edge is thin and we say so. We compete on discipline and systems, not a magic signal.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strategy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146304" cy="146304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4" name="Text 2"/>
          <p:cNvSpPr/>
          <p:nvPr/>
        </p:nvSpPr>
        <p:spPr>
          <a:xfrm>
            <a:off x="868680" y="15544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Signal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68680" y="192024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92A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8-hour cross-sectional momentum, demeaned across the universe each bar → dollar- and market-neutral, EMA-smoothed to cut turnover.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999232"/>
            <a:ext cx="146304" cy="146304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288036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Sizing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68680" y="324612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92A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Shrinkage-covariance (Ledoit-Wolf) mean-variance — downweights correlated, USD-redundant names for genuine diversification.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4325112"/>
            <a:ext cx="146304" cy="146304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420624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Universe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68680" y="457200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92A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10 contest instruments we've validated: EUR/GBP/JPY/CHF/CAD/AUD crosses, gold and silver. Crypto excluded as unvalidated.</a:t>
            </a:r>
            <a:endParaRPr lang="en-US" sz="125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5943600" y="1554480"/>
          <a:ext cx="566928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10"/>
          <p:cNvSpPr/>
          <p:nvPr/>
        </p:nvSpPr>
        <p:spPr>
          <a:xfrm>
            <a:off x="5943600" y="585216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2A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+8.6% return  ·  Sharpe 0.0243  ·  max DD -4.6%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Risk discipline by construction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91640"/>
            <a:ext cx="146304" cy="146304"/>
          </a:xfrm>
          <a:prstGeom prst="ellipse">
            <a:avLst/>
          </a:prstGeom>
          <a:solidFill>
            <a:srgbClr val="D4A72C"/>
          </a:solidFill>
          <a:ln/>
        </p:spPr>
      </p:sp>
      <p:sp>
        <p:nvSpPr>
          <p:cNvPr id="4" name="Text 2"/>
          <p:cNvSpPr/>
          <p:nvPr/>
        </p:nvSpPr>
        <p:spPr>
          <a:xfrm>
            <a:off x="868680" y="155448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Concentration caps  </a:t>
            </a:r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92A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≤ 30% of book and ≤ 75% of equity per name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146304" cy="146304"/>
          </a:xfrm>
          <a:prstGeom prst="ellipse">
            <a:avLst/>
          </a:prstGeom>
          <a:solidFill>
            <a:srgbClr val="D4A72C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246888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+ gross limits  </a:t>
            </a:r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92A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 under the 28x leverage and 90% margin penalty tiers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3520440"/>
            <a:ext cx="146304" cy="146304"/>
          </a:xfrm>
          <a:prstGeom prst="ellipse">
            <a:avLst/>
          </a:prstGeom>
          <a:solidFill>
            <a:srgbClr val="D4A72C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338328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Drawdown ladder  </a:t>
            </a:r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92A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auto-cuts gross: 5%→×0.7, 8%→×0.4, 12%→×0.2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4572000"/>
            <a:ext cx="5029200" cy="1371600"/>
          </a:xfrm>
          <a:prstGeom prst="rect">
            <a:avLst/>
          </a:prstGeom>
          <a:solidFill>
            <a:srgbClr val="18283F"/>
          </a:solidFill>
          <a:ln w="12700">
            <a:solidFill>
              <a:srgbClr val="263B5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68680" y="4754880"/>
            <a:ext cx="4663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FB9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 </a:t>
            </a:r>
            <a:pPr indent="0" marL="0">
              <a:buNone/>
            </a:pPr>
            <a:r>
              <a:rPr lang="en-US" sz="1400" dirty="0">
                <a:solidFill>
                  <a:srgbClr val="92A4B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forced liquidations   </a:t>
            </a:r>
            <a:pPr indent="0" marL="0">
              <a:buNone/>
            </a:pPr>
            <a:r>
              <a:rPr lang="en-US" sz="4000" b="1" dirty="0">
                <a:solidFill>
                  <a:srgbClr val="3FB9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100/100 </a:t>
            </a:r>
            <a:pPr indent="0" marL="0">
              <a:buNone/>
            </a:pPr>
            <a:r>
              <a:rPr lang="en-US" sz="1400" dirty="0">
                <a:solidFill>
                  <a:srgbClr val="92A4B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discipline</a:t>
            </a:r>
            <a:endParaRPr lang="en-US" sz="40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6126480" y="1554480"/>
          <a:ext cx="548640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Text 9"/>
          <p:cNvSpPr/>
          <p:nvPr/>
        </p:nvSpPr>
        <p:spPr>
          <a:xfrm>
            <a:off x="6126480" y="58978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92A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is a pure tournament dial: it moves return + drawdown, not Sharpe or discipline.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Validated, not curve-fit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630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Parameter plateau — return %</a:t>
            </a:r>
            <a:endParaRPr lang="en-US" sz="1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74520"/>
          <a:ext cx="5029200" cy="2743200"/>
        </p:xfrm>
        <a:graphic>
          <a:graphicData uri="http://schemas.openxmlformats.org/drawingml/2006/table">
            <a:tbl>
              <a:tblPr/>
              <a:tblGrid>
                <a:gridCol w="1463040"/>
                <a:gridCol w="1188720"/>
                <a:gridCol w="1188720"/>
                <a:gridCol w="11887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92A4B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mom \ ema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F1B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B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B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B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28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2A4B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F1B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B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B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B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28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2A4B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F1B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B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B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B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28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2A4B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F1B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B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B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B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283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mom 240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F1B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B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B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B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28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F1B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B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B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B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2705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F1B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B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B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B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864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F1B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B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B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B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A74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mom 360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F1B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B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B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B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28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F1B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B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B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B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8F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F1B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B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B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B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A7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F1B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B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B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B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B43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mom 480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F1B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B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B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B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28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F1B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B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B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B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A5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F1B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B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B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B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A04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F1B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B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B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B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9D4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mom 720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F1B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B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B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B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28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F1B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B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B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B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A7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F1B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B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B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B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874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F1B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B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B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B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6F5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mom 960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F1B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B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B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B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28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F1B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B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B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B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4D3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F1B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B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B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B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4B3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F1B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B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B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B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E4837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475488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2A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Chosen 480/48 sits inside a broad positive region — a stable plateau, not a lucky spike.</a:t>
            </a:r>
            <a:endParaRPr lang="en-US" sz="12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035040" y="1737360"/>
          <a:ext cx="5577840" cy="2468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3"/>
          <p:cNvSpPr/>
          <p:nvPr/>
        </p:nvSpPr>
        <p:spPr>
          <a:xfrm>
            <a:off x="6035040" y="4480560"/>
            <a:ext cx="2651760" cy="1371600"/>
          </a:xfrm>
          <a:prstGeom prst="rect">
            <a:avLst/>
          </a:prstGeom>
          <a:solidFill>
            <a:srgbClr val="18283F"/>
          </a:solidFill>
          <a:ln w="12700">
            <a:solidFill>
              <a:srgbClr val="263B5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8000"/>
              </a:srgbClr>
            </a:outerShdw>
          </a:effectLst>
        </p:spPr>
      </p:sp>
      <p:sp>
        <p:nvSpPr>
          <p:cNvPr id="8" name="Text 4"/>
          <p:cNvSpPr/>
          <p:nvPr/>
        </p:nvSpPr>
        <p:spPr>
          <a:xfrm>
            <a:off x="6035040" y="457200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4A7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0.26</a:t>
            </a:r>
            <a:endParaRPr lang="en-US" sz="3200" dirty="0"/>
          </a:p>
        </p:txBody>
      </p:sp>
      <p:sp>
        <p:nvSpPr>
          <p:cNvPr id="9" name="Text 5"/>
          <p:cNvSpPr/>
          <p:nvPr/>
        </p:nvSpPr>
        <p:spPr>
          <a:xfrm>
            <a:off x="6035040" y="53492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2A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Deflated Sharpe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8869680" y="4480560"/>
            <a:ext cx="2651760" cy="1371600"/>
          </a:xfrm>
          <a:prstGeom prst="rect">
            <a:avLst/>
          </a:prstGeom>
          <a:solidFill>
            <a:srgbClr val="18283F"/>
          </a:solidFill>
          <a:ln w="12700">
            <a:solidFill>
              <a:srgbClr val="263B5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8000"/>
              </a:srgbClr>
            </a:outerShdw>
          </a:effectLst>
        </p:spPr>
      </p:sp>
      <p:sp>
        <p:nvSpPr>
          <p:cNvPr id="11" name="Text 7"/>
          <p:cNvSpPr/>
          <p:nvPr/>
        </p:nvSpPr>
        <p:spPr>
          <a:xfrm>
            <a:off x="8869680" y="457200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4A7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21%</a:t>
            </a:r>
            <a:endParaRPr lang="en-US" sz="3200" dirty="0"/>
          </a:p>
        </p:txBody>
      </p:sp>
      <p:sp>
        <p:nvSpPr>
          <p:cNvPr id="12" name="Text 8"/>
          <p:cNvSpPr/>
          <p:nvPr/>
        </p:nvSpPr>
        <p:spPr>
          <a:xfrm>
            <a:off x="8869680" y="53492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2A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Prob. of overfitting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Execution + sponsor technology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45920"/>
            <a:ext cx="5394960" cy="1828800"/>
          </a:xfrm>
          <a:prstGeom prst="rect">
            <a:avLst/>
          </a:prstGeom>
          <a:solidFill>
            <a:srgbClr val="18283F"/>
          </a:solidFill>
          <a:ln w="12700">
            <a:solidFill>
              <a:srgbClr val="263B5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14400" y="1965960"/>
            <a:ext cx="777240" cy="777240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96596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F1B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874520" y="192024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NVIDIA Nemotron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874520" y="2377440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92A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news/event risk gate (nemotron-mini-4b) trims gross ahead of high-impact data — reduce-only.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63640" y="1645920"/>
            <a:ext cx="5394960" cy="1828800"/>
          </a:xfrm>
          <a:prstGeom prst="rect">
            <a:avLst/>
          </a:prstGeom>
          <a:solidFill>
            <a:srgbClr val="18283F"/>
          </a:solidFill>
          <a:ln w="12700">
            <a:solidFill>
              <a:srgbClr val="263B5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537960" y="1965960"/>
            <a:ext cx="777240" cy="777240"/>
          </a:xfrm>
          <a:prstGeom prst="ellipse">
            <a:avLst/>
          </a:prstGeom>
          <a:solidFill>
            <a:srgbClr val="58A6FF"/>
          </a:solidFill>
          <a:ln/>
        </p:spPr>
      </p:sp>
      <p:sp>
        <p:nvSpPr>
          <p:cNvPr id="10" name="Text 8"/>
          <p:cNvSpPr/>
          <p:nvPr/>
        </p:nvSpPr>
        <p:spPr>
          <a:xfrm>
            <a:off x="6537960" y="196596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F1B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7498080" y="192024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Anthropic Claude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0" y="2377440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92A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Ops/risk briefing agent: plain-English risk summary + recommended action each cycle.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3703320"/>
            <a:ext cx="5394960" cy="1828800"/>
          </a:xfrm>
          <a:prstGeom prst="rect">
            <a:avLst/>
          </a:prstGeom>
          <a:solidFill>
            <a:srgbClr val="18283F"/>
          </a:solidFill>
          <a:ln w="12700">
            <a:solidFill>
              <a:srgbClr val="263B5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914400" y="4023360"/>
            <a:ext cx="777240" cy="777240"/>
          </a:xfrm>
          <a:prstGeom prst="ellipse">
            <a:avLst/>
          </a:prstGeom>
          <a:solidFill>
            <a:srgbClr val="D4A72C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402336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F1B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1874520" y="397764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Pydantic Gateway + Logfire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874520" y="4434840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92A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model routing, schema-validated outputs, full run tracing.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263640" y="3703320"/>
            <a:ext cx="5394960" cy="1828800"/>
          </a:xfrm>
          <a:prstGeom prst="rect">
            <a:avLst/>
          </a:prstGeom>
          <a:solidFill>
            <a:srgbClr val="18283F"/>
          </a:solidFill>
          <a:ln w="12700">
            <a:solidFill>
              <a:srgbClr val="263B5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537960" y="4023360"/>
            <a:ext cx="777240" cy="777240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20" name="Text 18"/>
          <p:cNvSpPr/>
          <p:nvPr/>
        </p:nvSpPr>
        <p:spPr>
          <a:xfrm>
            <a:off x="6537960" y="402336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F1B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</a:t>
            </a:r>
            <a:endParaRPr lang="en-US" sz="3000" dirty="0"/>
          </a:p>
        </p:txBody>
      </p:sp>
      <p:sp>
        <p:nvSpPr>
          <p:cNvPr id="21" name="Text 19"/>
          <p:cNvSpPr/>
          <p:nvPr/>
        </p:nvSpPr>
        <p:spPr>
          <a:xfrm>
            <a:off x="7498080" y="397764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MetaTrader 5 + Northflank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498080" y="4434840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92A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notional→lots execution bridge (dry-run safe); containerised scheduled deployment.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4114800"/>
            <a:ext cx="5486400" cy="5486400"/>
          </a:xfrm>
          <a:prstGeom prst="ellipse">
            <a:avLst/>
          </a:prstGeom>
          <a:solidFill>
            <a:srgbClr val="13314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play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645920"/>
            <a:ext cx="107899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— survive at gross 2.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92A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 high-variance entrants self-eliminate; protect equity, which carries forward.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Later rounds — lean to gross 4 only if alive and needing rank.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92A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Sharpe is unchanged; the drawdown ladder caps the downside. A per-round planner turns standing into a gross.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4160520"/>
            <a:ext cx="10881360" cy="1737360"/>
          </a:xfrm>
          <a:prstGeom prst="rect">
            <a:avLst/>
          </a:prstGeom>
          <a:solidFill>
            <a:srgbClr val="18283F"/>
          </a:solidFill>
          <a:ln w="12700">
            <a:solidFill>
              <a:srgbClr val="263B5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14400" y="434340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C4B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Honest, disciplined, fully built.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914400" y="4937760"/>
            <a:ext cx="10332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92A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don't claim a large or certain edge — we claim a complete, validated, sponsor-integrated system built to maximise the probability of placing across all three prizes. Past simulated performance is not indicative of live results.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Quanthack Pitch Deck</dc:title>
  <dc:subject>PptxGenJS Presentation</dc:subject>
  <dc:creator>alex@ladimex.com</dc:creator>
  <cp:lastModifiedBy>alex@ladimex.com</cp:lastModifiedBy>
  <cp:revision>1</cp:revision>
  <dcterms:created xsi:type="dcterms:W3CDTF">2026-06-19T16:10:04Z</dcterms:created>
  <dcterms:modified xsi:type="dcterms:W3CDTF">2026-06-19T16:10:04Z</dcterms:modified>
</cp:coreProperties>
</file>